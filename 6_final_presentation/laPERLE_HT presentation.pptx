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92">
          <p15:clr>
            <a:srgbClr val="A4A3A4"/>
          </p15:clr>
        </p15:guide>
        <p15:guide id="2" pos="3144">
          <p15:clr>
            <a:srgbClr val="A4A3A4"/>
          </p15:clr>
        </p15:guide>
        <p15:guide id="3" orient="horz" pos="96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SFzcXT/F0ezVhrLhRADd2Ef0l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92" orient="horz"/>
        <p:guide pos="3144"/>
        <p:guide pos="9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e692ba202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e692ba202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ae692ba202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e692ba20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ae692ba20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ae692ba20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e692ba20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ae692ba20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ae692ba202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4"/>
          <p:cNvGrpSpPr/>
          <p:nvPr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17" name="Google Shape;17;p14"/>
            <p:cNvSpPr/>
            <p:nvPr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" name="Google Shape;18;p14"/>
            <p:cNvSpPr/>
            <p:nvPr/>
          </p:nvSpPr>
          <p:spPr>
            <a:xfrm>
              <a:off x="0" y="0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" name="Google Shape;19;p14"/>
            <p:cNvSpPr/>
            <p:nvPr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" name="Google Shape;20;p14"/>
            <p:cNvSpPr/>
            <p:nvPr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" name="Google Shape;21;p14"/>
            <p:cNvSpPr/>
            <p:nvPr/>
          </p:nvSpPr>
          <p:spPr>
            <a:xfrm>
              <a:off x="4054172" y="4069080"/>
              <a:ext cx="2788920" cy="2788920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22" name="Google Shape;22;p14"/>
            <p:cNvGrpSpPr/>
            <p:nvPr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23" name="Google Shape;23;p14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4" name="Google Shape;24;p14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5" name="Google Shape;25;p14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26" name="Google Shape;26;p14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27" name="Google Shape;27;p14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28" name="Google Shape;28;p14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29" name="Google Shape;29;p14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0" name="Google Shape;30;p14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31" name="Google Shape;31;p14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32" name="Google Shape;32;p14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chemeClr val="lt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33" name="Google Shape;33;p14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chemeClr val="lt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34" name="Google Shape;34;p14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0" i="0" lang="en-US" sz="1800" u="none" cap="none" strike="noStrike">
                            <a:solidFill>
                              <a:schemeClr val="lt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35" name="Google Shape;35;p14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36" name="Google Shape;36;p14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37" name="Google Shape;37;p14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8" name="Google Shape;38;p14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9" name="Google Shape;39;p14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0" name="Google Shape;40;p14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1" name="Google Shape;41;p14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42" name="Google Shape;42;p14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43" name="Google Shape;43;p14"/>
            <p:cNvSpPr/>
            <p:nvPr/>
          </p:nvSpPr>
          <p:spPr>
            <a:xfrm rot="10800000">
              <a:off x="1013527" y="204317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" name="Google Shape;44;p14"/>
            <p:cNvSpPr/>
            <p:nvPr/>
          </p:nvSpPr>
          <p:spPr>
            <a:xfrm rot="5400000">
              <a:off x="2028432" y="4821048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" name="Google Shape;45;p14"/>
            <p:cNvSpPr/>
            <p:nvPr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" name="Google Shape;46;p14"/>
            <p:cNvSpPr/>
            <p:nvPr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47" name="Google Shape;47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7822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" name="Google Shape;49;p14"/>
            <p:cNvCxnSpPr/>
            <p:nvPr/>
          </p:nvCxnSpPr>
          <p:spPr>
            <a:xfrm>
              <a:off x="974376" y="989441"/>
              <a:ext cx="5867327" cy="5867206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0" name="Google Shape;50;p14"/>
          <p:cNvSpPr txBox="1"/>
          <p:nvPr>
            <p:ph type="ctrTitle"/>
          </p:nvPr>
        </p:nvSpPr>
        <p:spPr>
          <a:xfrm>
            <a:off x="4714772" y="677918"/>
            <a:ext cx="6856292" cy="3590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venir"/>
              <a:buNone/>
              <a:defRPr sz="60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bg>
      <p:bgPr>
        <a:solidFill>
          <a:schemeClr val="dk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type="title"/>
          </p:nvPr>
        </p:nvSpPr>
        <p:spPr>
          <a:xfrm>
            <a:off x="4933950" y="429461"/>
            <a:ext cx="6343650" cy="26684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4938712" y="3299953"/>
            <a:ext cx="6338888" cy="266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342900" lvl="1" marL="9144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4" name="Google Shape;54;p15"/>
          <p:cNvGrpSpPr/>
          <p:nvPr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55" name="Google Shape;55;p15"/>
            <p:cNvSpPr/>
            <p:nvPr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" name="Google Shape;56;p15"/>
            <p:cNvSpPr/>
            <p:nvPr/>
          </p:nvSpPr>
          <p:spPr>
            <a:xfrm>
              <a:off x="2029604" y="2031653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A black and white striped pattern&#10;&#10;Description automatically generated with low confidence" id="58" name="Google Shape;58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15"/>
            <p:cNvSpPr/>
            <p:nvPr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62" name="Google Shape;6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" name="Google Shape;63;p15"/>
            <p:cNvGrpSpPr/>
            <p:nvPr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64" name="Google Shape;64;p15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65" name="Google Shape;65;p15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66" name="Google Shape;66;p15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67" name="Google Shape;67;p15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68" name="Google Shape;68;p15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69" name="Google Shape;69;p15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70" name="Google Shape;70;p15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1" name="Google Shape;71;p15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72" name="Google Shape;72;p15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73" name="Google Shape;73;p15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chemeClr val="lt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74" name="Google Shape;74;p15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chemeClr val="lt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75" name="Google Shape;75;p15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0" i="0" lang="en-US" sz="1800" u="none" cap="none" strike="noStrike">
                            <a:solidFill>
                              <a:schemeClr val="lt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76" name="Google Shape;76;p15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77" name="Google Shape;77;p15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78" name="Google Shape;78;p15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9" name="Google Shape;79;p15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0" name="Google Shape;80;p15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1" name="Google Shape;81;p15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2" name="Google Shape;82;p15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83" name="Google Shape;83;p15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84" name="Google Shape;84;p15"/>
            <p:cNvSpPr/>
            <p:nvPr/>
          </p:nvSpPr>
          <p:spPr>
            <a:xfrm>
              <a:off x="0" y="4043197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0" y="2021358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86" name="Google Shape;86;p15"/>
            <p:cNvCxnSpPr/>
            <p:nvPr/>
          </p:nvCxnSpPr>
          <p:spPr>
            <a:xfrm>
              <a:off x="10632" y="-7753"/>
              <a:ext cx="4052352" cy="4040860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7" name="Google Shape;87;p15"/>
            <p:cNvSpPr/>
            <p:nvPr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7306165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idx="10" type="dt"/>
          </p:nvPr>
        </p:nvSpPr>
        <p:spPr>
          <a:xfrm>
            <a:off x="4833694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+ Picture ">
  <p:cSld name="Title + Subtitle + Picture 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ctrTitle"/>
          </p:nvPr>
        </p:nvSpPr>
        <p:spPr>
          <a:xfrm>
            <a:off x="4833694" y="544285"/>
            <a:ext cx="6594768" cy="3445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" type="subTitle"/>
          </p:nvPr>
        </p:nvSpPr>
        <p:spPr>
          <a:xfrm>
            <a:off x="4829789" y="4130045"/>
            <a:ext cx="6594768" cy="1951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94" name="Google Shape;94;p16"/>
          <p:cNvGrpSpPr/>
          <p:nvPr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95" name="Google Shape;95;p16"/>
            <p:cNvSpPr/>
            <p:nvPr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2039471" y="4061896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98" name="Google Shape;98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" name="Google Shape;99;p16"/>
            <p:cNvGrpSpPr/>
            <p:nvPr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100" name="Google Shape;100;p16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01" name="Google Shape;101;p16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02" name="Google Shape;102;p16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03" name="Google Shape;103;p16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04" name="Google Shape;104;p16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05" name="Google Shape;105;p16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06" name="Google Shape;106;p16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07" name="Google Shape;107;p16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108" name="Google Shape;108;p16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109" name="Google Shape;109;p16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chemeClr val="lt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10" name="Google Shape;110;p16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chemeClr val="lt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111" name="Google Shape;111;p16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0" i="0" lang="en-US" sz="1800" u="none" cap="none" strike="noStrike">
                            <a:solidFill>
                              <a:schemeClr val="lt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112" name="Google Shape;112;p16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113" name="Google Shape;113;p16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114" name="Google Shape;114;p16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15" name="Google Shape;115;p16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16" name="Google Shape;116;p16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17" name="Google Shape;117;p16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18" name="Google Shape;118;p16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119" name="Google Shape;119;p16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120" name="Google Shape;120;p16"/>
            <p:cNvSpPr/>
            <p:nvPr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9867" y="405160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22" name="Google Shape;122;p16"/>
          <p:cNvSpPr/>
          <p:nvPr>
            <p:ph idx="2" type="pic"/>
          </p:nvPr>
        </p:nvSpPr>
        <p:spPr>
          <a:xfrm>
            <a:off x="0" y="-1"/>
            <a:ext cx="4076118" cy="609667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ontent 1">
    <p:bg>
      <p:bgPr>
        <a:solidFill>
          <a:schemeClr val="accent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762001" y="896112"/>
            <a:ext cx="6589150" cy="1988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5" name="Google Shape;125;p17"/>
          <p:cNvGrpSpPr/>
          <p:nvPr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26" name="Google Shape;126;p17"/>
            <p:cNvSpPr/>
            <p:nvPr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 rot="5400000">
              <a:off x="10160492" y="2024569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29" name="Google Shape;129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7"/>
            <p:cNvSpPr/>
            <p:nvPr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A black and white striped pattern&#10;&#10;Description automatically generated with low confidence" id="133" name="Google Shape;13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7"/>
            <p:cNvSpPr/>
            <p:nvPr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36" name="Google Shape;136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7" name="Google Shape;137;p17"/>
            <p:cNvGrpSpPr/>
            <p:nvPr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138" name="Google Shape;138;p17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39" name="Google Shape;139;p17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40" name="Google Shape;140;p17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41" name="Google Shape;141;p17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42" name="Google Shape;142;p17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43" name="Google Shape;143;p17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44" name="Google Shape;144;p17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45" name="Google Shape;145;p17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146" name="Google Shape;146;p17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147" name="Google Shape;147;p17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chemeClr val="lt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48" name="Google Shape;148;p17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chemeClr val="lt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149" name="Google Shape;149;p17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0" i="0" lang="en-US" sz="1800" u="none" cap="none" strike="noStrike">
                            <a:solidFill>
                              <a:schemeClr val="lt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150" name="Google Shape;150;p17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151" name="Google Shape;151;p17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152" name="Google Shape;152;p17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53" name="Google Shape;153;p17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54" name="Google Shape;154;p17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55" name="Google Shape;155;p17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56" name="Google Shape;156;p17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157" name="Google Shape;157;p17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158" name="Google Shape;158;p17"/>
            <p:cNvSpPr/>
            <p:nvPr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8138160" y="2029968"/>
              <a:ext cx="1014984" cy="201168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160" name="Google Shape;160;p17"/>
            <p:cNvCxnSpPr/>
            <p:nvPr/>
          </p:nvCxnSpPr>
          <p:spPr>
            <a:xfrm flipH="1" rot="10800000">
              <a:off x="8138160" y="2012062"/>
              <a:ext cx="3044952" cy="7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1" name="Google Shape;161;p17"/>
            <p:cNvSpPr/>
            <p:nvPr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62" name="Google Shape;162;p17"/>
          <p:cNvSpPr txBox="1"/>
          <p:nvPr>
            <p:ph idx="10" type="dt"/>
          </p:nvPr>
        </p:nvSpPr>
        <p:spPr>
          <a:xfrm>
            <a:off x="761295" y="6355080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11" type="ftr"/>
          </p:nvPr>
        </p:nvSpPr>
        <p:spPr>
          <a:xfrm>
            <a:off x="5499886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11274091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762001" y="3058886"/>
            <a:ext cx="6597372" cy="3296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  <p15:guide id="4" pos="57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Title + Subtitle">
    <p:bg>
      <p:bgPr>
        <a:solidFill>
          <a:schemeClr val="accent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18"/>
          <p:cNvGrpSpPr/>
          <p:nvPr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168" name="Google Shape;168;p18"/>
            <p:cNvSpPr/>
            <p:nvPr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69" name="Google Shape;169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8"/>
            <p:cNvSpPr/>
            <p:nvPr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4071442" y="4058828"/>
              <a:ext cx="3178103" cy="2799549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73" name="Google Shape;17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8"/>
            <p:cNvSpPr/>
            <p:nvPr/>
          </p:nvSpPr>
          <p:spPr>
            <a:xfrm>
              <a:off x="2028568" y="4060579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76" name="Google Shape;176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and white striped pattern&#10;&#10;Description automatically generated with low confidence" id="177" name="Google Shape;177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06" y="3062893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8" name="Google Shape;178;p18"/>
            <p:cNvGrpSpPr/>
            <p:nvPr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79" name="Google Shape;179;p18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80" name="Google Shape;180;p18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81" name="Google Shape;181;p18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82" name="Google Shape;182;p18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83" name="Google Shape;183;p18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4" name="Google Shape;184;p18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5" name="Google Shape;185;p18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6" name="Google Shape;186;p18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6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187" name="Google Shape;187;p18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6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188" name="Google Shape;188;p18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6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chemeClr val="lt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89" name="Google Shape;189;p18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6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chemeClr val="lt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190" name="Google Shape;190;p18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6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0" i="0" lang="en-US" sz="1800" u="none" cap="none" strike="noStrike">
                            <a:solidFill>
                              <a:schemeClr val="lt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191" name="Google Shape;191;p18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6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192" name="Google Shape;192;p18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6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193" name="Google Shape;193;p18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94" name="Google Shape;194;p18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95" name="Google Shape;195;p18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96" name="Google Shape;196;p18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97" name="Google Shape;197;p18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198" name="Google Shape;198;p18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199" name="Google Shape;199;p18"/>
            <p:cNvSpPr/>
            <p:nvPr/>
          </p:nvSpPr>
          <p:spPr>
            <a:xfrm rot="-5400000">
              <a:off x="506891" y="5335524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202" name="Google Shape;202;p18"/>
            <p:cNvCxnSpPr/>
            <p:nvPr/>
          </p:nvCxnSpPr>
          <p:spPr>
            <a:xfrm flipH="1" rot="10800000">
              <a:off x="0" y="1990665"/>
              <a:ext cx="4023360" cy="33894"/>
            </a:xfrm>
            <a:prstGeom prst="straightConnector1">
              <a:avLst/>
            </a:prstGeom>
            <a:noFill/>
            <a:ln cap="flat" cmpd="sng" w="508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3" name="Google Shape;203;p18"/>
          <p:cNvSpPr txBox="1"/>
          <p:nvPr>
            <p:ph type="ctrTitle"/>
          </p:nvPr>
        </p:nvSpPr>
        <p:spPr>
          <a:xfrm>
            <a:off x="4974771" y="576943"/>
            <a:ext cx="6449786" cy="2785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8"/>
          <p:cNvSpPr txBox="1"/>
          <p:nvPr>
            <p:ph idx="1" type="subTitle"/>
          </p:nvPr>
        </p:nvSpPr>
        <p:spPr>
          <a:xfrm>
            <a:off x="4974772" y="3373686"/>
            <a:ext cx="6449785" cy="10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5" name="Google Shape;205;p18"/>
          <p:cNvSpPr txBox="1"/>
          <p:nvPr>
            <p:ph idx="10" type="dt"/>
          </p:nvPr>
        </p:nvSpPr>
        <p:spPr>
          <a:xfrm>
            <a:off x="7519821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8"/>
          <p:cNvSpPr txBox="1"/>
          <p:nvPr>
            <p:ph idx="11" type="ftr"/>
          </p:nvPr>
        </p:nvSpPr>
        <p:spPr>
          <a:xfrm>
            <a:off x="872719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8"/>
          <p:cNvSpPr txBox="1"/>
          <p:nvPr>
            <p:ph idx="12" type="sldNum"/>
          </p:nvPr>
        </p:nvSpPr>
        <p:spPr>
          <a:xfrm>
            <a:off x="11123295" y="635284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5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>
  <p:cSld name="Two Content 1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>
            <p:ph type="title"/>
          </p:nvPr>
        </p:nvSpPr>
        <p:spPr>
          <a:xfrm>
            <a:off x="771736" y="896112"/>
            <a:ext cx="93892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0" name="Google Shape;210;p19"/>
          <p:cNvGrpSpPr/>
          <p:nvPr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211" name="Google Shape;211;p19"/>
            <p:cNvSpPr/>
            <p:nvPr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A black and white striped pattern&#10;&#10;Description automatically generated with low confidence" id="214" name="Google Shape;214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19"/>
            <p:cNvSpPr/>
            <p:nvPr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16" name="Google Shape;216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80040" y="5394960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19"/>
            <p:cNvSpPr/>
            <p:nvPr/>
          </p:nvSpPr>
          <p:spPr>
            <a:xfrm>
              <a:off x="11250235" y="4949368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18" name="Google Shape;21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19"/>
          <p:cNvSpPr txBox="1"/>
          <p:nvPr>
            <p:ph idx="10" type="dt"/>
          </p:nvPr>
        </p:nvSpPr>
        <p:spPr>
          <a:xfrm>
            <a:off x="771735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9"/>
          <p:cNvSpPr txBox="1"/>
          <p:nvPr>
            <p:ph idx="11" type="ftr"/>
          </p:nvPr>
        </p:nvSpPr>
        <p:spPr>
          <a:xfrm>
            <a:off x="542448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9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9"/>
          <p:cNvSpPr txBox="1"/>
          <p:nvPr>
            <p:ph idx="1" type="body"/>
          </p:nvPr>
        </p:nvSpPr>
        <p:spPr>
          <a:xfrm>
            <a:off x="771734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19"/>
          <p:cNvSpPr txBox="1"/>
          <p:nvPr>
            <p:ph idx="2" type="body"/>
          </p:nvPr>
        </p:nvSpPr>
        <p:spPr>
          <a:xfrm>
            <a:off x="5645989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2">
  <p:cSld name="Two Content 2">
    <p:bg>
      <p:bgPr>
        <a:solidFill>
          <a:srgbClr val="BEBAC7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097646">
            <a:off x="403102" y="-983359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/>
          <p:nvPr/>
        </p:nvSpPr>
        <p:spPr>
          <a:xfrm rot="-8091810">
            <a:off x="-1025089" y="458228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697467">
            <a:off x="407892" y="1900474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 rot="-2700000">
            <a:off x="413443" y="1923515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29" name="Google Shape;2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2708786">
            <a:off x="-1021285" y="3355869"/>
            <a:ext cx="2029968" cy="2029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10773">
            <a:off x="1859807" y="3357927"/>
            <a:ext cx="2029968" cy="20299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0"/>
          <p:cNvGrpSpPr/>
          <p:nvPr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232" name="Google Shape;232;p20"/>
            <p:cNvSpPr/>
            <p:nvPr/>
          </p:nvSpPr>
          <p:spPr>
            <a:xfrm>
              <a:off x="-13699" y="5839164"/>
              <a:ext cx="2862790" cy="28868"/>
            </a:xfrm>
            <a:custGeom>
              <a:rect b="b" l="l" r="r" t="t"/>
              <a:pathLst>
                <a:path extrusionOk="0" h="28868" w="2862790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47246" y="5900109"/>
              <a:ext cx="2740900" cy="28868"/>
            </a:xfrm>
            <a:custGeom>
              <a:rect b="b" l="l" r="r" t="t"/>
              <a:pathLst>
                <a:path extrusionOk="0" h="28868" w="2740900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108992" y="5960251"/>
              <a:ext cx="2619012" cy="29671"/>
            </a:xfrm>
            <a:custGeom>
              <a:rect b="b" l="l" r="r" t="t"/>
              <a:pathLst>
                <a:path extrusionOk="0" h="29671" w="2619012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169937" y="6021196"/>
              <a:ext cx="2497122" cy="29670"/>
            </a:xfrm>
            <a:custGeom>
              <a:rect b="b" l="l" r="r" t="t"/>
              <a:pathLst>
                <a:path extrusionOk="0" h="29670" w="2497122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229279" y="6082140"/>
              <a:ext cx="2376837" cy="28869"/>
            </a:xfrm>
            <a:custGeom>
              <a:rect b="b" l="l" r="r" t="t"/>
              <a:pathLst>
                <a:path extrusionOk="0" h="28869" w="2376837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290222" y="6143085"/>
              <a:ext cx="2254948" cy="28868"/>
            </a:xfrm>
            <a:custGeom>
              <a:rect b="b" l="l" r="r" t="t"/>
              <a:pathLst>
                <a:path extrusionOk="0" h="28868" w="225494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351970" y="6203227"/>
              <a:ext cx="2133059" cy="29671"/>
            </a:xfrm>
            <a:custGeom>
              <a:rect b="b" l="l" r="r" t="t"/>
              <a:pathLst>
                <a:path extrusionOk="0" h="29671" w="2133059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411310" y="6264172"/>
              <a:ext cx="2012774" cy="28868"/>
            </a:xfrm>
            <a:custGeom>
              <a:rect b="b" l="l" r="r" t="t"/>
              <a:pathLst>
                <a:path extrusionOk="0" h="28868" w="2012774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472255" y="6325117"/>
              <a:ext cx="1890884" cy="28868"/>
            </a:xfrm>
            <a:custGeom>
              <a:rect b="b" l="l" r="r" t="t"/>
              <a:pathLst>
                <a:path extrusionOk="0" h="28868" w="1890884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533199" y="6386061"/>
              <a:ext cx="1768996" cy="28869"/>
            </a:xfrm>
            <a:custGeom>
              <a:rect b="b" l="l" r="r" t="t"/>
              <a:pathLst>
                <a:path extrusionOk="0" h="28869" w="1768996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594946" y="6446204"/>
              <a:ext cx="1647106" cy="29670"/>
            </a:xfrm>
            <a:custGeom>
              <a:rect b="b" l="l" r="r" t="t"/>
              <a:pathLst>
                <a:path extrusionOk="0" h="29670" w="1647106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654287" y="6507148"/>
              <a:ext cx="1526821" cy="28869"/>
            </a:xfrm>
            <a:custGeom>
              <a:rect b="b" l="l" r="r" t="t"/>
              <a:pathLst>
                <a:path extrusionOk="0" h="28869" w="1526821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715231" y="6568093"/>
              <a:ext cx="1404932" cy="28868"/>
            </a:xfrm>
            <a:custGeom>
              <a:rect b="b" l="l" r="r" t="t"/>
              <a:pathLst>
                <a:path extrusionOk="0" h="28868" w="1404932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776977" y="6628235"/>
              <a:ext cx="1283044" cy="29671"/>
            </a:xfrm>
            <a:custGeom>
              <a:rect b="b" l="l" r="r" t="t"/>
              <a:pathLst>
                <a:path extrusionOk="0" h="29671" w="1283044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837922" y="6689180"/>
              <a:ext cx="1161154" cy="29670"/>
            </a:xfrm>
            <a:custGeom>
              <a:rect b="b" l="l" r="r" t="t"/>
              <a:pathLst>
                <a:path extrusionOk="0" h="29670" w="1161154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897263" y="6750124"/>
              <a:ext cx="1040868" cy="28869"/>
            </a:xfrm>
            <a:custGeom>
              <a:rect b="b" l="l" r="r" t="t"/>
              <a:pathLst>
                <a:path extrusionOk="0" h="28869" w="1040868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958207" y="6811069"/>
              <a:ext cx="918980" cy="28869"/>
            </a:xfrm>
            <a:custGeom>
              <a:rect b="b" l="l" r="r" t="t"/>
              <a:pathLst>
                <a:path extrusionOk="0" h="28869" w="918980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49" name="Google Shape;249;p20"/>
          <p:cNvSpPr/>
          <p:nvPr/>
        </p:nvSpPr>
        <p:spPr>
          <a:xfrm>
            <a:off x="1793659" y="5801762"/>
            <a:ext cx="1075475" cy="1058335"/>
          </a:xfrm>
          <a:custGeom>
            <a:rect b="b" l="l" r="r" t="t"/>
            <a:pathLst>
              <a:path extrusionOk="0" h="1062720" w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1035546" y="6829131"/>
            <a:ext cx="918980" cy="28869"/>
          </a:xfrm>
          <a:custGeom>
            <a:rect b="b" l="l" r="r" t="t"/>
            <a:pathLst>
              <a:path extrusionOk="0" h="28869" w="918980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1" name="Google Shape;251;p20"/>
          <p:cNvSpPr txBox="1"/>
          <p:nvPr>
            <p:ph type="title"/>
          </p:nvPr>
        </p:nvSpPr>
        <p:spPr>
          <a:xfrm>
            <a:off x="3520440" y="896111"/>
            <a:ext cx="7889768" cy="2039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0"/>
          <p:cNvSpPr txBox="1"/>
          <p:nvPr>
            <p:ph idx="1" type="body"/>
          </p:nvPr>
        </p:nvSpPr>
        <p:spPr>
          <a:xfrm>
            <a:off x="3520440" y="3259056"/>
            <a:ext cx="2994660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20"/>
          <p:cNvSpPr txBox="1"/>
          <p:nvPr>
            <p:ph idx="2" type="body"/>
          </p:nvPr>
        </p:nvSpPr>
        <p:spPr>
          <a:xfrm>
            <a:off x="6826432" y="3253740"/>
            <a:ext cx="4580088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20"/>
          <p:cNvSpPr txBox="1"/>
          <p:nvPr>
            <p:ph idx="10" type="dt"/>
          </p:nvPr>
        </p:nvSpPr>
        <p:spPr>
          <a:xfrm>
            <a:off x="352372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0"/>
          <p:cNvSpPr txBox="1"/>
          <p:nvPr>
            <p:ph idx="11" type="ftr"/>
          </p:nvPr>
        </p:nvSpPr>
        <p:spPr>
          <a:xfrm>
            <a:off x="6642161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0"/>
          <p:cNvSpPr txBox="1"/>
          <p:nvPr>
            <p:ph idx="12" type="sldNum"/>
          </p:nvPr>
        </p:nvSpPr>
        <p:spPr>
          <a:xfrm>
            <a:off x="10949320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Picture">
  <p:cSld name="Content + Picture">
    <p:bg>
      <p:bgPr>
        <a:solidFill>
          <a:schemeClr val="accent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 txBox="1"/>
          <p:nvPr>
            <p:ph type="title"/>
          </p:nvPr>
        </p:nvSpPr>
        <p:spPr>
          <a:xfrm>
            <a:off x="3807877" y="898524"/>
            <a:ext cx="7606895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1"/>
          <p:cNvSpPr/>
          <p:nvPr>
            <p:ph idx="2" type="pic"/>
          </p:nvPr>
        </p:nvSpPr>
        <p:spPr>
          <a:xfrm>
            <a:off x="1011337" y="9212"/>
            <a:ext cx="2029967" cy="4850544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21"/>
          <p:cNvSpPr/>
          <p:nvPr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61" name="Google Shape;26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338" y="5865203"/>
            <a:ext cx="2019299" cy="99945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>
            <p:ph idx="1" type="body"/>
          </p:nvPr>
        </p:nvSpPr>
        <p:spPr>
          <a:xfrm>
            <a:off x="3803953" y="3259138"/>
            <a:ext cx="7615274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21"/>
          <p:cNvSpPr txBox="1"/>
          <p:nvPr>
            <p:ph idx="10" type="dt"/>
          </p:nvPr>
        </p:nvSpPr>
        <p:spPr>
          <a:xfrm>
            <a:off x="380395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11" type="ftr"/>
          </p:nvPr>
        </p:nvSpPr>
        <p:spPr>
          <a:xfrm>
            <a:off x="6788630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1"/>
          <p:cNvSpPr txBox="1"/>
          <p:nvPr>
            <p:ph idx="12" type="sldNum"/>
          </p:nvPr>
        </p:nvSpPr>
        <p:spPr>
          <a:xfrm>
            <a:off x="1096202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66" name="Google Shape;266;p21"/>
          <p:cNvGrpSpPr/>
          <p:nvPr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267" name="Google Shape;267;p21"/>
            <p:cNvSpPr/>
            <p:nvPr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70" name="Google Shape;27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1"/>
            <p:cNvSpPr/>
            <p:nvPr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 rot="10800000">
              <a:off x="100582" y="2932749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73" name="Google Shape;27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4" name="Google Shape;274;p21"/>
          <p:cNvSpPr/>
          <p:nvPr/>
        </p:nvSpPr>
        <p:spPr>
          <a:xfrm>
            <a:off x="1011339" y="2834159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Table">
  <p:cSld name="Content + Table">
    <p:bg>
      <p:bgPr>
        <a:solidFill>
          <a:schemeClr val="dk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/>
          <p:nvPr>
            <p:ph type="title"/>
          </p:nvPr>
        </p:nvSpPr>
        <p:spPr>
          <a:xfrm>
            <a:off x="762000" y="896112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22"/>
          <p:cNvSpPr/>
          <p:nvPr/>
        </p:nvSpPr>
        <p:spPr>
          <a:xfrm rot="10800000">
            <a:off x="11177016" y="0"/>
            <a:ext cx="1014984" cy="1014984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8" name="Google Shape;278;p22"/>
          <p:cNvSpPr txBox="1"/>
          <p:nvPr>
            <p:ph idx="1" type="body"/>
          </p:nvPr>
        </p:nvSpPr>
        <p:spPr>
          <a:xfrm>
            <a:off x="762000" y="2417197"/>
            <a:ext cx="4278313" cy="3737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22"/>
          <p:cNvSpPr txBox="1"/>
          <p:nvPr>
            <p:ph idx="10" type="dt"/>
          </p:nvPr>
        </p:nvSpPr>
        <p:spPr>
          <a:xfrm>
            <a:off x="76744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2"/>
          <p:cNvSpPr txBox="1"/>
          <p:nvPr>
            <p:ph idx="11" type="ftr"/>
          </p:nvPr>
        </p:nvSpPr>
        <p:spPr>
          <a:xfrm>
            <a:off x="5273449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2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3">
  <p:cSld name="Two Content 3">
    <p:bg>
      <p:bgPr>
        <a:solidFill>
          <a:schemeClr val="accen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/>
          <p:nvPr>
            <p:ph type="title"/>
          </p:nvPr>
        </p:nvSpPr>
        <p:spPr>
          <a:xfrm>
            <a:off x="1552574" y="896111"/>
            <a:ext cx="9866540" cy="1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4" name="Google Shape;284;p23"/>
          <p:cNvGrpSpPr/>
          <p:nvPr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285" name="Google Shape;285;p23"/>
            <p:cNvSpPr/>
            <p:nvPr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7" name="Google Shape;287;p23"/>
            <p:cNvSpPr/>
            <p:nvPr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9" name="Google Shape;289;p23"/>
            <p:cNvSpPr/>
            <p:nvPr/>
          </p:nvSpPr>
          <p:spPr>
            <a:xfrm rot="10800000">
              <a:off x="100582" y="2936725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90" name="Google Shape;290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2" name="Google Shape;292;p23"/>
          <p:cNvSpPr txBox="1"/>
          <p:nvPr>
            <p:ph idx="1" type="body"/>
          </p:nvPr>
        </p:nvSpPr>
        <p:spPr>
          <a:xfrm>
            <a:off x="1552575" y="2481940"/>
            <a:ext cx="6477952" cy="3635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3" name="Google Shape;293;p23"/>
          <p:cNvSpPr txBox="1"/>
          <p:nvPr>
            <p:ph idx="2" type="body"/>
          </p:nvPr>
        </p:nvSpPr>
        <p:spPr>
          <a:xfrm>
            <a:off x="8372723" y="2481940"/>
            <a:ext cx="3046391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eriod"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lphaLcPeriod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arenR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lphaLcParenR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romanLcPeriod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p23"/>
          <p:cNvSpPr txBox="1"/>
          <p:nvPr>
            <p:ph idx="10" type="dt"/>
          </p:nvPr>
        </p:nvSpPr>
        <p:spPr>
          <a:xfrm>
            <a:off x="155448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11" type="ftr"/>
          </p:nvPr>
        </p:nvSpPr>
        <p:spPr>
          <a:xfrm>
            <a:off x="574452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73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dk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4"/>
          <p:cNvSpPr/>
          <p:nvPr/>
        </p:nvSpPr>
        <p:spPr>
          <a:xfrm rot="10800000">
            <a:off x="11177016" y="0"/>
            <a:ext cx="1014984" cy="1014984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0" name="Google Shape;300;p24"/>
          <p:cNvSpPr txBox="1"/>
          <p:nvPr>
            <p:ph idx="10" type="dt"/>
          </p:nvPr>
        </p:nvSpPr>
        <p:spPr>
          <a:xfrm>
            <a:off x="76744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24"/>
          <p:cNvSpPr txBox="1"/>
          <p:nvPr>
            <p:ph idx="11" type="ftr"/>
          </p:nvPr>
        </p:nvSpPr>
        <p:spPr>
          <a:xfrm>
            <a:off x="5273449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 type="title">
  <p:cSld name="TITLE">
    <p:bg>
      <p:bgPr>
        <a:solidFill>
          <a:schemeClr val="accent2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5"/>
          <p:cNvGrpSpPr/>
          <p:nvPr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05" name="Google Shape;305;p25"/>
            <p:cNvSpPr/>
            <p:nvPr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0" y="0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4054172" y="4069080"/>
              <a:ext cx="2788920" cy="2788920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310" name="Google Shape;310;p25"/>
            <p:cNvGrpSpPr/>
            <p:nvPr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311" name="Google Shape;311;p25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312" name="Google Shape;312;p25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313" name="Google Shape;313;p25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4" name="Google Shape;314;p25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15" name="Google Shape;315;p25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16" name="Google Shape;316;p25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17" name="Google Shape;317;p25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18" name="Google Shape;318;p25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319" name="Google Shape;319;p25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b="0" i="0" lang="en-US" sz="1800" u="none" cap="none" strike="noStrike">
                                  <a:solidFill>
                                    <a:schemeClr val="lt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320" name="Google Shape;320;p25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chemeClr val="lt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321" name="Google Shape;321;p25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chemeClr val="lt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322" name="Google Shape;322;p25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0" i="0" lang="en-US" sz="1800" u="none" cap="none" strike="noStrike">
                            <a:solidFill>
                              <a:schemeClr val="lt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323" name="Google Shape;323;p25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324" name="Google Shape;324;p25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325" name="Google Shape;325;p25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26" name="Google Shape;326;p25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27" name="Google Shape;327;p25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28" name="Google Shape;328;p25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29" name="Google Shape;329;p25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330" name="Google Shape;330;p25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331" name="Google Shape;331;p25"/>
            <p:cNvSpPr/>
            <p:nvPr/>
          </p:nvSpPr>
          <p:spPr>
            <a:xfrm rot="10800000">
              <a:off x="1013527" y="204317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2" name="Google Shape;332;p25"/>
            <p:cNvSpPr/>
            <p:nvPr/>
          </p:nvSpPr>
          <p:spPr>
            <a:xfrm rot="5400000">
              <a:off x="2028432" y="4821048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35" name="Google Shape;335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7822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7" name="Google Shape;337;p25"/>
            <p:cNvCxnSpPr/>
            <p:nvPr/>
          </p:nvCxnSpPr>
          <p:spPr>
            <a:xfrm>
              <a:off x="974376" y="989441"/>
              <a:ext cx="5867327" cy="5867206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38" name="Google Shape;338;p25"/>
          <p:cNvSpPr txBox="1"/>
          <p:nvPr>
            <p:ph type="ctrTitle"/>
          </p:nvPr>
        </p:nvSpPr>
        <p:spPr>
          <a:xfrm>
            <a:off x="5900245" y="544285"/>
            <a:ext cx="5528217" cy="2685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sz="44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25"/>
          <p:cNvSpPr txBox="1"/>
          <p:nvPr>
            <p:ph idx="1" type="subTitle"/>
          </p:nvPr>
        </p:nvSpPr>
        <p:spPr>
          <a:xfrm>
            <a:off x="5896340" y="3423773"/>
            <a:ext cx="5528217" cy="2029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icture">
  <p:cSld name="Title + Picture">
    <p:bg>
      <p:bgPr>
        <a:solidFill>
          <a:schemeClr val="accent3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/>
          <p:nvPr>
            <p:ph type="ctrTitle"/>
          </p:nvPr>
        </p:nvSpPr>
        <p:spPr>
          <a:xfrm>
            <a:off x="4833694" y="660358"/>
            <a:ext cx="6594768" cy="553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26"/>
          <p:cNvSpPr/>
          <p:nvPr>
            <p:ph idx="2" type="pic"/>
          </p:nvPr>
        </p:nvSpPr>
        <p:spPr>
          <a:xfrm rot="10800000">
            <a:off x="1" y="761322"/>
            <a:ext cx="4076118" cy="609667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43" name="Google Shape;343;p26"/>
          <p:cNvGrpSpPr/>
          <p:nvPr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344" name="Google Shape;344;p26"/>
            <p:cNvSpPr/>
            <p:nvPr/>
          </p:nvSpPr>
          <p:spPr>
            <a:xfrm flipH="1" rot="10800000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5" name="Google Shape;345;p26"/>
            <p:cNvSpPr/>
            <p:nvPr/>
          </p:nvSpPr>
          <p:spPr>
            <a:xfrm rot="10800000">
              <a:off x="0" y="766136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6" name="Google Shape;346;p26"/>
            <p:cNvSpPr/>
            <p:nvPr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47" name="Google Shape;347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26"/>
            <p:cNvSpPr/>
            <p:nvPr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A black and white striped pattern&#10;&#10;Description automatically generated with low confidence" id="349" name="Google Shape;349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1" i="0" sz="4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76">
          <p15:clr>
            <a:srgbClr val="5ACBF0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pos="1272">
          <p15:clr>
            <a:srgbClr val="9FCC3B"/>
          </p15:clr>
        </p15:guide>
        <p15:guide id="6" pos="2544">
          <p15:clr>
            <a:srgbClr val="9FCC3B"/>
          </p15:clr>
        </p15:guide>
        <p15:guide id="7" pos="5112">
          <p15:clr>
            <a:srgbClr val="9FCC3B"/>
          </p15:clr>
        </p15:guide>
        <p15:guide id="8" pos="6408">
          <p15:clr>
            <a:srgbClr val="9FCC3B"/>
          </p15:clr>
        </p15:guide>
        <p15:guide id="9" pos="3940">
          <p15:clr>
            <a:srgbClr val="F26B43"/>
          </p15:clr>
        </p15:guide>
        <p15:guide id="10" pos="710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"/>
          <p:cNvSpPr txBox="1"/>
          <p:nvPr>
            <p:ph type="ctrTitle"/>
          </p:nvPr>
        </p:nvSpPr>
        <p:spPr>
          <a:xfrm>
            <a:off x="3646967" y="677918"/>
            <a:ext cx="7924097" cy="3590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venir"/>
              <a:buNone/>
            </a:pPr>
            <a:r>
              <a:rPr lang="en-US"/>
              <a:t>LAPERLE_HT </a:t>
            </a:r>
            <a:r>
              <a:rPr lang="en-US" sz="3600"/>
              <a:t>PRESENTATION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e692ba202_0_16"/>
          <p:cNvSpPr txBox="1"/>
          <p:nvPr>
            <p:ph type="ctrTitle"/>
          </p:nvPr>
        </p:nvSpPr>
        <p:spPr>
          <a:xfrm>
            <a:off x="4714775" y="677928"/>
            <a:ext cx="6856200" cy="499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Group members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1- Kervens Hubert LOUIS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2- Pierre Kenley MERVIL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3- Clifforde EXAEL</a:t>
            </a:r>
            <a:endParaRPr sz="3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"/>
          <p:cNvSpPr txBox="1"/>
          <p:nvPr>
            <p:ph type="title"/>
          </p:nvPr>
        </p:nvSpPr>
        <p:spPr>
          <a:xfrm>
            <a:off x="4933950" y="429461"/>
            <a:ext cx="6343650" cy="26684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n-US"/>
              <a:t>PLAN</a:t>
            </a:r>
            <a:endParaRPr/>
          </a:p>
        </p:txBody>
      </p:sp>
      <p:sp>
        <p:nvSpPr>
          <p:cNvPr id="368" name="Google Shape;368;p2"/>
          <p:cNvSpPr txBox="1"/>
          <p:nvPr>
            <p:ph idx="1" type="body"/>
          </p:nvPr>
        </p:nvSpPr>
        <p:spPr>
          <a:xfrm>
            <a:off x="4938713" y="3300413"/>
            <a:ext cx="6338887" cy="3334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Introduction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Caribbean tourism sector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Tourism sector in Haiti island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Tourism sector in Republic of Haiti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The website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9" name="Google Shape;369;p2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"/>
          <p:cNvSpPr txBox="1"/>
          <p:nvPr>
            <p:ph type="ctrTitle"/>
          </p:nvPr>
        </p:nvSpPr>
        <p:spPr>
          <a:xfrm>
            <a:off x="4833694" y="544286"/>
            <a:ext cx="6594768" cy="2634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</a:pPr>
            <a:r>
              <a:rPr lang="en-US"/>
              <a:t>INTRODUCTION</a:t>
            </a:r>
            <a:br>
              <a:rPr lang="en-US"/>
            </a:br>
            <a:r>
              <a:rPr lang="en-US"/>
              <a:t>​</a:t>
            </a:r>
            <a:endParaRPr/>
          </a:p>
        </p:txBody>
      </p:sp>
      <p:pic>
        <p:nvPicPr>
          <p:cNvPr descr="Low angle view of tall buildings" id="376" name="Google Shape;376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3" r="42" t="0"/>
          <a:stretch/>
        </p:blipFill>
        <p:spPr>
          <a:xfrm>
            <a:off x="0" y="-1"/>
            <a:ext cx="4076118" cy="609667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"/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78" name="Google Shape;378;p3"/>
          <p:cNvCxnSpPr/>
          <p:nvPr/>
        </p:nvCxnSpPr>
        <p:spPr>
          <a:xfrm>
            <a:off x="-97971" y="1909602"/>
            <a:ext cx="4160955" cy="4149155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"/>
          <p:cNvSpPr txBox="1"/>
          <p:nvPr>
            <p:ph idx="1" type="body"/>
          </p:nvPr>
        </p:nvSpPr>
        <p:spPr>
          <a:xfrm>
            <a:off x="762000" y="2466753"/>
            <a:ext cx="6597650" cy="3888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4255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4700"/>
              <a:t>Introduction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238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2100"/>
              <a:t>Tourism has become one of the world’s fastest growing industries in the age of globalization.</a:t>
            </a:r>
            <a:br>
              <a:rPr lang="en-US" sz="2100"/>
            </a:br>
            <a:r>
              <a:rPr lang="en-US" sz="2100"/>
              <a:t>It links countries through culture, mobility and economic exchange.</a:t>
            </a:r>
            <a:br>
              <a:rPr lang="en-US" sz="2100"/>
            </a:br>
            <a:r>
              <a:rPr lang="en-US" sz="2100"/>
              <a:t>The sector generates major revenue, creates millions of jobs, and drives development.</a:t>
            </a:r>
            <a:br>
              <a:rPr lang="en-US" sz="2100"/>
            </a:br>
            <a:r>
              <a:rPr lang="en-US" sz="2100"/>
              <a:t>Its economic importance continues to rise, especially in emerging regions.</a:t>
            </a:r>
            <a:br>
              <a:rPr lang="en-US" sz="2100"/>
            </a:br>
            <a:r>
              <a:rPr lang="en-US" sz="2100"/>
              <a:t>Future growth is expected as global connectivity, technology, and travel demand expand.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br>
              <a:rPr lang="en-US"/>
            </a:br>
            <a:endParaRPr/>
          </a:p>
        </p:txBody>
      </p:sp>
      <p:sp>
        <p:nvSpPr>
          <p:cNvPr id="385" name="Google Shape;385;p4"/>
          <p:cNvSpPr txBox="1"/>
          <p:nvPr>
            <p:ph idx="12" type="sldNum"/>
          </p:nvPr>
        </p:nvSpPr>
        <p:spPr>
          <a:xfrm>
            <a:off x="11274091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"/>
          <p:cNvSpPr txBox="1"/>
          <p:nvPr>
            <p:ph type="ctrTitle"/>
          </p:nvPr>
        </p:nvSpPr>
        <p:spPr>
          <a:xfrm>
            <a:off x="4974771" y="576943"/>
            <a:ext cx="6449786" cy="2785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</a:pPr>
            <a:r>
              <a:rPr lang="en-US"/>
              <a:t>CARIBBEAN TOURISM SECTOR</a:t>
            </a:r>
            <a:br>
              <a:rPr lang="en-US"/>
            </a:br>
            <a:endParaRPr/>
          </a:p>
        </p:txBody>
      </p:sp>
      <p:sp>
        <p:nvSpPr>
          <p:cNvPr id="392" name="Google Shape;392;p5"/>
          <p:cNvSpPr txBox="1"/>
          <p:nvPr>
            <p:ph idx="1" type="subTitle"/>
          </p:nvPr>
        </p:nvSpPr>
        <p:spPr>
          <a:xfrm>
            <a:off x="4974772" y="3373686"/>
            <a:ext cx="6449785" cy="10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93" name="Google Shape;393;p5"/>
          <p:cNvSpPr txBox="1"/>
          <p:nvPr>
            <p:ph idx="12" type="sldNum"/>
          </p:nvPr>
        </p:nvSpPr>
        <p:spPr>
          <a:xfrm>
            <a:off x="11123295" y="635284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"/>
          <p:cNvSpPr txBox="1"/>
          <p:nvPr>
            <p:ph type="title"/>
          </p:nvPr>
        </p:nvSpPr>
        <p:spPr>
          <a:xfrm>
            <a:off x="771736" y="896112"/>
            <a:ext cx="93892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None/>
            </a:pPr>
            <a:r>
              <a:rPr lang="en-US" sz="2800"/>
              <a:t>CARIBBEAN TOURISM SECTOR</a:t>
            </a:r>
            <a:br>
              <a:rPr lang="en-US"/>
            </a:br>
            <a:r>
              <a:rPr lang="en-US"/>
              <a:t>​</a:t>
            </a:r>
            <a:endParaRPr/>
          </a:p>
        </p:txBody>
      </p:sp>
      <p:sp>
        <p:nvSpPr>
          <p:cNvPr id="400" name="Google Shape;400;p6"/>
          <p:cNvSpPr txBox="1"/>
          <p:nvPr>
            <p:ph idx="1" type="body"/>
          </p:nvPr>
        </p:nvSpPr>
        <p:spPr>
          <a:xfrm>
            <a:off x="771524" y="2258568"/>
            <a:ext cx="9712177" cy="3837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The Caribbean tourism market is one of the most growing markets among underdeveloped country in the world with:</a:t>
            </a:r>
            <a:endParaRPr/>
          </a:p>
          <a:p>
            <a:pPr indent="-228600" lvl="1" marL="45720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34,2 millions internationals visitors in</a:t>
            </a:r>
            <a:endParaRPr/>
          </a:p>
          <a:p>
            <a:pPr indent="0" lvl="1" marL="22860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2024</a:t>
            </a:r>
            <a:endParaRPr/>
          </a:p>
          <a:p>
            <a:pPr indent="-228600" lvl="1" marL="45720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up 6.1% from 2023</a:t>
            </a:r>
            <a:endParaRPr/>
          </a:p>
          <a:p>
            <a:pPr indent="-228600" lvl="1" marL="45720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91 000 000 us dollars in PIB of the Caribbean economy</a:t>
            </a:r>
            <a:endParaRPr/>
          </a:p>
          <a:p>
            <a:pPr indent="-228600" lvl="1" marL="45720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And will increase even more for the next decade according to the Caribbean Tourism Organization (CTA).</a:t>
            </a:r>
            <a:endParaRPr/>
          </a:p>
        </p:txBody>
      </p:sp>
      <p:sp>
        <p:nvSpPr>
          <p:cNvPr id="401" name="Google Shape;401;p6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"/>
          <p:cNvSpPr txBox="1"/>
          <p:nvPr>
            <p:ph type="title"/>
          </p:nvPr>
        </p:nvSpPr>
        <p:spPr>
          <a:xfrm>
            <a:off x="3520440" y="896111"/>
            <a:ext cx="7889768" cy="2039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n-US"/>
              <a:t>TOURISM SECTOR IN HAITI ISLAND</a:t>
            </a:r>
            <a:br>
              <a:rPr lang="en-US"/>
            </a:br>
            <a:endParaRPr/>
          </a:p>
        </p:txBody>
      </p:sp>
      <p:sp>
        <p:nvSpPr>
          <p:cNvPr id="408" name="Google Shape;408;p7"/>
          <p:cNvSpPr txBox="1"/>
          <p:nvPr>
            <p:ph idx="2" type="body"/>
          </p:nvPr>
        </p:nvSpPr>
        <p:spPr>
          <a:xfrm>
            <a:off x="3264195" y="2636874"/>
            <a:ext cx="8142325" cy="4221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Republic of Haiti share the Caribbean Island with Dominican Republic. However, Dominican Republic dominate the tourism sector in the Caribbean:​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It remained the most visited in 2024 with 8.5 million arrivals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11 millions in 2025. Never seen before in the region​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815 000 jobs created in 2025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over  15 milliards us dollars as added value in the economy</a:t>
            </a:r>
            <a:endParaRPr sz="2000"/>
          </a:p>
        </p:txBody>
      </p:sp>
      <p:sp>
        <p:nvSpPr>
          <p:cNvPr id="409" name="Google Shape;409;p7"/>
          <p:cNvSpPr txBox="1"/>
          <p:nvPr>
            <p:ph idx="12" type="sldNum"/>
          </p:nvPr>
        </p:nvSpPr>
        <p:spPr>
          <a:xfrm>
            <a:off x="10949320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8"/>
          <p:cNvSpPr txBox="1"/>
          <p:nvPr>
            <p:ph type="title"/>
          </p:nvPr>
        </p:nvSpPr>
        <p:spPr>
          <a:xfrm>
            <a:off x="3807877" y="898524"/>
            <a:ext cx="7606895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venir"/>
              <a:buNone/>
            </a:pPr>
            <a:r>
              <a:rPr lang="en-US" sz="3600"/>
              <a:t>TOURISM SECTOR IN REPUBLIC OF HAITI</a:t>
            </a:r>
            <a:br>
              <a:rPr lang="en-US"/>
            </a:br>
            <a:r>
              <a:rPr lang="en-US"/>
              <a:t>​</a:t>
            </a:r>
            <a:endParaRPr/>
          </a:p>
        </p:txBody>
      </p:sp>
      <p:pic>
        <p:nvPicPr>
          <p:cNvPr descr="Woman walking in office" id="416" name="Google Shape;416;p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5913" r="35913" t="0"/>
          <a:stretch/>
        </p:blipFill>
        <p:spPr>
          <a:xfrm>
            <a:off x="1011337" y="9212"/>
            <a:ext cx="2029967" cy="485054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8"/>
          <p:cNvSpPr txBox="1"/>
          <p:nvPr>
            <p:ph idx="1" type="body"/>
          </p:nvPr>
        </p:nvSpPr>
        <p:spPr>
          <a:xfrm>
            <a:off x="3803953" y="3259138"/>
            <a:ext cx="7615274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/>
              <a:t>Our study show the tourism sector in Haiti is resilient</a:t>
            </a:r>
            <a:endParaRPr/>
          </a:p>
          <a:p>
            <a:pPr indent="-285750" lvl="0" marL="28575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/>
              <a:t>Political crisis and natural disaster don’t have significant impact on the sector</a:t>
            </a:r>
            <a:endParaRPr/>
          </a:p>
          <a:p>
            <a:pPr indent="-285750" lvl="0" marL="28575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/>
              <a:t>We have the same natural beauty characteristics as the Dominican Republic</a:t>
            </a:r>
            <a:endParaRPr/>
          </a:p>
          <a:p>
            <a:pPr indent="-285750" lvl="0" marL="28575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-US"/>
              <a:t>However, we are among the 10 countries that receive the fewest tourists per year</a:t>
            </a:r>
            <a:endParaRPr/>
          </a:p>
        </p:txBody>
      </p:sp>
      <p:sp>
        <p:nvSpPr>
          <p:cNvPr id="418" name="Google Shape;418;p8"/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419" name="Google Shape;419;p8"/>
          <p:cNvCxnSpPr/>
          <p:nvPr/>
        </p:nvCxnSpPr>
        <p:spPr>
          <a:xfrm flipH="1" rot="10800000">
            <a:off x="0" y="2824876"/>
            <a:ext cx="2011680" cy="7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0" name="Google Shape;420;p8"/>
          <p:cNvSpPr txBox="1"/>
          <p:nvPr>
            <p:ph idx="12" type="sldNum"/>
          </p:nvPr>
        </p:nvSpPr>
        <p:spPr>
          <a:xfrm>
            <a:off x="1096202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e692ba202_0_0"/>
          <p:cNvSpPr txBox="1"/>
          <p:nvPr>
            <p:ph type="title"/>
          </p:nvPr>
        </p:nvSpPr>
        <p:spPr>
          <a:xfrm>
            <a:off x="3807877" y="898524"/>
            <a:ext cx="7606800" cy="203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venir"/>
              <a:buNone/>
            </a:pPr>
            <a:r>
              <a:rPr lang="en-US" sz="3600"/>
              <a:t>TOURISM SECTOR IN REPUBLIC OF HAITI</a:t>
            </a:r>
            <a:endParaRPr/>
          </a:p>
        </p:txBody>
      </p:sp>
      <p:sp>
        <p:nvSpPr>
          <p:cNvPr id="427" name="Google Shape;427;g3ae692ba202_0_0"/>
          <p:cNvSpPr/>
          <p:nvPr>
            <p:ph idx="2" type="pic"/>
          </p:nvPr>
        </p:nvSpPr>
        <p:spPr>
          <a:xfrm>
            <a:off x="1011337" y="9212"/>
            <a:ext cx="2030100" cy="4850400"/>
          </a:xfrm>
          <a:prstGeom prst="rect">
            <a:avLst/>
          </a:prstGeom>
        </p:spPr>
      </p:sp>
      <p:sp>
        <p:nvSpPr>
          <p:cNvPr id="428" name="Google Shape;428;g3ae692ba202_0_0"/>
          <p:cNvSpPr txBox="1"/>
          <p:nvPr>
            <p:ph idx="1" type="body"/>
          </p:nvPr>
        </p:nvSpPr>
        <p:spPr>
          <a:xfrm>
            <a:off x="3803953" y="3259138"/>
            <a:ext cx="76152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</a:t>
            </a:r>
            <a:r>
              <a:rPr lang="en-US"/>
              <a:t>correct</a:t>
            </a:r>
            <a:r>
              <a:rPr lang="en-US"/>
              <a:t> the trend of haiti </a:t>
            </a:r>
            <a:r>
              <a:rPr lang="en-US"/>
              <a:t>tourism</a:t>
            </a:r>
            <a:r>
              <a:rPr lang="en-US"/>
              <a:t> with promotion as Dominican republic and Jamaica did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sp>
        <p:nvSpPr>
          <p:cNvPr id="429" name="Google Shape;429;g3ae692ba202_0_0"/>
          <p:cNvSpPr txBox="1"/>
          <p:nvPr>
            <p:ph idx="12" type="sldNum"/>
          </p:nvPr>
        </p:nvSpPr>
        <p:spPr>
          <a:xfrm>
            <a:off x="10962027" y="6356350"/>
            <a:ext cx="457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"/>
          <p:cNvSpPr txBox="1"/>
          <p:nvPr>
            <p:ph type="title"/>
          </p:nvPr>
        </p:nvSpPr>
        <p:spPr>
          <a:xfrm>
            <a:off x="762000" y="896112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n-US"/>
              <a:t>WEBSITE​</a:t>
            </a:r>
            <a:endParaRPr/>
          </a:p>
        </p:txBody>
      </p:sp>
      <p:sp>
        <p:nvSpPr>
          <p:cNvPr id="436" name="Google Shape;436;p9"/>
          <p:cNvSpPr txBox="1"/>
          <p:nvPr>
            <p:ph idx="1" type="body"/>
          </p:nvPr>
        </p:nvSpPr>
        <p:spPr>
          <a:xfrm>
            <a:off x="1259350" y="1692675"/>
            <a:ext cx="10668000" cy="42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website is the second part of the project. It included in a tourism promotion strategy.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it shapes to showcase Haiti natural beauty, displays safe zone, what touristics sites is present in a zone and its capacity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you can take to respect and help the </a:t>
            </a:r>
            <a:r>
              <a:rPr lang="en-US"/>
              <a:t>community</a:t>
            </a:r>
            <a:r>
              <a:rPr lang="en-US"/>
              <a:t> present a the zone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is the </a:t>
            </a:r>
            <a:r>
              <a:rPr lang="en-US"/>
              <a:t>accessibility</a:t>
            </a:r>
            <a:r>
              <a:rPr lang="en-US"/>
              <a:t> of the zone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is an all in one website designed to make tourists’ lives easier while protecting the local community</a:t>
            </a:r>
            <a:endParaRPr/>
          </a:p>
        </p:txBody>
      </p:sp>
      <p:sp>
        <p:nvSpPr>
          <p:cNvPr id="437" name="Google Shape;437;p9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"/>
          <p:cNvSpPr txBox="1"/>
          <p:nvPr>
            <p:ph type="title"/>
          </p:nvPr>
        </p:nvSpPr>
        <p:spPr>
          <a:xfrm>
            <a:off x="1552574" y="885111"/>
            <a:ext cx="9866400" cy="13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5900"/>
              <a:buFont typeface="Avenir"/>
              <a:buNone/>
            </a:pPr>
            <a:r>
              <a:rPr lang="en-US" sz="5122"/>
              <a:t>Website</a:t>
            </a:r>
            <a:endParaRPr sz="5122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venir"/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 txBox="1"/>
          <p:nvPr>
            <p:ph idx="1" type="body"/>
          </p:nvPr>
        </p:nvSpPr>
        <p:spPr>
          <a:xfrm>
            <a:off x="1552575" y="2481950"/>
            <a:ext cx="9725100" cy="3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2"/>
                </a:solidFill>
              </a:rPr>
              <a:t>SEO strategy</a:t>
            </a:r>
            <a:endParaRPr sz="300"/>
          </a:p>
          <a:p>
            <a:pPr indent="-228600" lvl="1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Identify high-intent keywords related to tourism in Haiti,services </a:t>
            </a:r>
            <a:r>
              <a:rPr lang="en-US"/>
              <a:t>offered</a:t>
            </a:r>
            <a:r>
              <a:rPr lang="en-US"/>
              <a:t> on the website et safety focus tourism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Publish helpful destination guides, cultural insight, sustainable tourism blog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Storytelling from local community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schema markup for Hotels, Events. tours and Local business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structure data for rich results on Google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  <p:sp>
        <p:nvSpPr>
          <p:cNvPr id="445" name="Google Shape;445;p10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e692ba202_0_8"/>
          <p:cNvSpPr txBox="1"/>
          <p:nvPr>
            <p:ph type="title"/>
          </p:nvPr>
        </p:nvSpPr>
        <p:spPr>
          <a:xfrm>
            <a:off x="1552574" y="896111"/>
            <a:ext cx="9866400" cy="135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</a:pPr>
            <a:r>
              <a:rPr lang="en-US" sz="5122"/>
              <a:t>Website</a:t>
            </a:r>
            <a:endParaRPr/>
          </a:p>
        </p:txBody>
      </p:sp>
      <p:sp>
        <p:nvSpPr>
          <p:cNvPr id="452" name="Google Shape;452;g3ae692ba202_0_8"/>
          <p:cNvSpPr txBox="1"/>
          <p:nvPr>
            <p:ph idx="1" type="body"/>
          </p:nvPr>
        </p:nvSpPr>
        <p:spPr>
          <a:xfrm>
            <a:off x="1552575" y="2481950"/>
            <a:ext cx="10027800" cy="363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2"/>
                </a:solidFill>
              </a:rPr>
              <a:t>SEO strategy</a:t>
            </a:r>
            <a:endParaRPr b="1" sz="29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b="1" lang="en-US" sz="2300">
                <a:solidFill>
                  <a:schemeClr val="dk2"/>
                </a:solidFill>
              </a:rPr>
              <a:t>Highlight safety information and community benefits</a:t>
            </a:r>
            <a:endParaRPr b="1"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b="1" lang="en-US" sz="2300">
                <a:solidFill>
                  <a:schemeClr val="dk2"/>
                </a:solidFill>
              </a:rPr>
              <a:t>Add clear explanations of how your platforms protects local communities.</a:t>
            </a:r>
            <a:endParaRPr b="1"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b="1" lang="en-US" sz="2300">
                <a:solidFill>
                  <a:schemeClr val="dk2"/>
                </a:solidFill>
              </a:rPr>
              <a:t>Promote local businesses and sustainable tourism practices.</a:t>
            </a:r>
            <a:endParaRPr b="1"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b="1" lang="en-US" sz="2300">
                <a:solidFill>
                  <a:schemeClr val="dk2"/>
                </a:solidFill>
              </a:rPr>
              <a:t>Analytics and performance measurement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453" name="Google Shape;453;g3ae692ba202_0_8"/>
          <p:cNvSpPr txBox="1"/>
          <p:nvPr>
            <p:ph idx="12" type="sldNum"/>
          </p:nvPr>
        </p:nvSpPr>
        <p:spPr>
          <a:xfrm>
            <a:off x="11123295" y="6356350"/>
            <a:ext cx="457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"/>
          <p:cNvSpPr txBox="1"/>
          <p:nvPr>
            <p:ph type="ctrTitle"/>
          </p:nvPr>
        </p:nvSpPr>
        <p:spPr>
          <a:xfrm>
            <a:off x="5900245" y="544285"/>
            <a:ext cx="5528217" cy="2685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460" name="Google Shape;460;p12"/>
          <p:cNvSpPr txBox="1"/>
          <p:nvPr>
            <p:ph idx="1" type="subTitle"/>
          </p:nvPr>
        </p:nvSpPr>
        <p:spPr>
          <a:xfrm>
            <a:off x="5896340" y="3423773"/>
            <a:ext cx="5528217" cy="2029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 sz="2900"/>
              <a:t>LAPERLE-HT</a:t>
            </a:r>
            <a:endParaRPr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74">
      <a:dk1>
        <a:srgbClr val="000000"/>
      </a:dk1>
      <a:lt1>
        <a:srgbClr val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2025-12-07T21:57:09Z</dcterms:created>
  <dc:creator>Pierre Kenley MERVIL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